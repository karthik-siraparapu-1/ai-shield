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73152"/>
          </a:xfrm>
          <a:prstGeom prst="rect">
            <a:avLst/>
          </a:prstGeom>
          <a:solidFill>
            <a:srgbClr val="0F6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A6C8FF"/>
                </a:solidFill>
                <a:latin typeface="Calibri"/>
              </a:rPr>
              <a:t>IBM SkillsBuild  |  AICTE  |  BharatCares   -   Machine Learning &amp; Applied AI Internship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>
                <a:solidFill>
                  <a:srgbClr val="FFFFFF"/>
                </a:solidFill>
                <a:latin typeface="Calibri"/>
              </a:rPr>
              <a:t>AI Shield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A unified, explainable fraud detection platform for scam messages, phishing URLs and emails using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6C6C6"/>
                </a:solidFill>
                <a:latin typeface="Calibri"/>
              </a:rPr>
              <a:t>Karthik Siraparapu  -  Internship ID IBMUEML004123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C6C6C6"/>
                </a:solidFill>
                <a:latin typeface="Calibri"/>
              </a:rPr>
              <a:t>Marwadi University  -  B.Tech CSE (AI &amp; ML), Semester 5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C6C6C6"/>
                </a:solidFill>
                <a:latin typeface="Calibri"/>
              </a:rPr>
              <a:t>SDG 9  -  Industry, Innovation &amp; Infrastructure   |   SDG 16  -  Peace, Justice &amp; Strong Institutions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F6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Problem: scams reach users faster than filters adapt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AI Shield  |  Karthik Siraparapu  |  IBM SkillsBuild - AICTE - BharatCares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0F62FF"/>
                </a:solidFill>
                <a:latin typeface="Calibri"/>
              </a:rPr>
              <a:t>■  </a:t>
            </a:r>
            <a:r>
              <a:rPr sz="2000">
                <a:solidFill>
                  <a:srgbClr val="161616"/>
                </a:solidFill>
                <a:latin typeface="Calibri"/>
              </a:rPr>
              <a:t>Fake KYC, OTP, lottery, courier, UPI and 'digital arrest' messages arrive by SMS, WhatsApp, links and email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0F62FF"/>
                </a:solidFill>
                <a:latin typeface="Calibri"/>
              </a:rPr>
              <a:t>■  </a:t>
            </a:r>
            <a:r>
              <a:rPr sz="2000">
                <a:solidFill>
                  <a:srgbClr val="161616"/>
                </a:solidFill>
                <a:latin typeface="Calibri"/>
              </a:rPr>
              <a:t>Rule-based spam filters miss newly worded scams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0F62FF"/>
                </a:solidFill>
                <a:latin typeface="Calibri"/>
              </a:rPr>
              <a:t>■  </a:t>
            </a:r>
            <a:r>
              <a:rPr sz="2000">
                <a:solidFill>
                  <a:srgbClr val="161616"/>
                </a:solidFill>
                <a:latin typeface="Calibri"/>
              </a:rPr>
              <a:t>Users must decide in seconds and rarely know why a message is dangerous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0F62FF"/>
                </a:solidFill>
                <a:latin typeface="Calibri"/>
              </a:rPr>
              <a:t>■  </a:t>
            </a:r>
            <a:r>
              <a:rPr sz="2000">
                <a:solidFill>
                  <a:srgbClr val="161616"/>
                </a:solidFill>
                <a:latin typeface="Calibri"/>
              </a:rPr>
              <a:t>Most tools output a bare yes/no with no explanation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1463040"/>
            <a:ext cx="4114800" cy="4206240"/>
          </a:xfrm>
          <a:prstGeom prst="rect">
            <a:avLst/>
          </a:prstGeom>
          <a:solidFill>
            <a:srgbClr val="EDF5FF"/>
          </a:solidFill>
          <a:ln>
            <a:solidFill>
              <a:srgbClr val="0F6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645920"/>
            <a:ext cx="3749039" cy="3840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61616"/>
                </a:solidFill>
                <a:latin typeface="Calibri"/>
              </a:rPr>
              <a:t>Example scam text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61616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61616"/>
                </a:solidFill>
                <a:latin typeface="Calibri"/>
              </a:rPr>
              <a:t>'Dear customer, your SBI account will be blocked today. Update KYC immediately: http://sbi-kyc-update.xyz/login and share the OTP to verify.'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61616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61616"/>
                </a:solidFill>
                <a:latin typeface="Calibri"/>
              </a:rPr>
              <a:t>OTP + KYC + urgency + bank impersonation + suspicious link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F6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AI Shield  |  Karthik Siraparapu  |  IBM SkillsBuild - AICTE - BharatCares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0F62FF"/>
                </a:solidFill>
                <a:latin typeface="Calibri"/>
              </a:rPr>
              <a:t>■  </a:t>
            </a:r>
            <a:r>
              <a:rPr sz="2200">
                <a:solidFill>
                  <a:srgbClr val="161616"/>
                </a:solidFill>
                <a:latin typeface="Calibri"/>
              </a:rPr>
              <a:t>Rapid growth of UPI and mobile banking brings many first-time digital users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F62FF"/>
                </a:solidFill>
                <a:latin typeface="Calibri"/>
              </a:rPr>
              <a:t>■  </a:t>
            </a:r>
            <a:r>
              <a:rPr sz="2200">
                <a:solidFill>
                  <a:srgbClr val="161616"/>
                </a:solidFill>
                <a:latin typeface="Calibri"/>
              </a:rPr>
              <a:t>Victims lose money and personal data within minutes of one wrong tap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F62FF"/>
                </a:solidFill>
                <a:latin typeface="Calibri"/>
              </a:rPr>
              <a:t>■  </a:t>
            </a:r>
            <a:r>
              <a:rPr sz="2200">
                <a:solidFill>
                  <a:srgbClr val="161616"/>
                </a:solidFill>
                <a:latin typeface="Calibri"/>
              </a:rPr>
              <a:t>A free 'second opinion' tool can interrupt a scam before money moves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F62FF"/>
                </a:solidFill>
                <a:latin typeface="Calibri"/>
              </a:rPr>
              <a:t>■  </a:t>
            </a:r>
            <a:r>
              <a:rPr sz="2200">
                <a:solidFill>
                  <a:srgbClr val="161616"/>
                </a:solidFill>
                <a:latin typeface="Calibri"/>
              </a:rPr>
              <a:t>Explanations teach users to recognise scam patterns themselves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F62FF"/>
                </a:solidFill>
                <a:latin typeface="Calibri"/>
              </a:rPr>
              <a:t>■  </a:t>
            </a:r>
            <a:r>
              <a:rPr sz="2200">
                <a:solidFill>
                  <a:srgbClr val="161616"/>
                </a:solidFill>
                <a:latin typeface="Calibri"/>
              </a:rPr>
              <a:t>Applied ML is a practical way to learn from past scams instead of hand-writing rules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F6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AI Shield  |  Karthik Siraparapu  |  IBM SkillsBuild - AICTE - BharatCares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0F62FF"/>
                </a:solidFill>
                <a:latin typeface="Calibri"/>
              </a:rPr>
              <a:t>■  </a:t>
            </a:r>
            <a:r>
              <a:rPr sz="2200">
                <a:solidFill>
                  <a:srgbClr val="161616"/>
                </a:solidFill>
                <a:latin typeface="Calibri"/>
              </a:rPr>
              <a:t>Detect fraudulent messages, phishing URLs and emails with machine learning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F62FF"/>
                </a:solidFill>
                <a:latin typeface="Calibri"/>
              </a:rPr>
              <a:t>■  </a:t>
            </a:r>
            <a:r>
              <a:rPr sz="2200">
                <a:solidFill>
                  <a:srgbClr val="161616"/>
                </a:solidFill>
                <a:latin typeface="Calibri"/>
              </a:rPr>
              <a:t>Compare several algorithms and pick the best by evidence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F62FF"/>
                </a:solidFill>
                <a:latin typeface="Calibri"/>
              </a:rPr>
              <a:t>■  </a:t>
            </a:r>
            <a:r>
              <a:rPr sz="2200">
                <a:solidFill>
                  <a:srgbClr val="161616"/>
                </a:solidFill>
                <a:latin typeface="Calibri"/>
              </a:rPr>
              <a:t>Explain every prediction: reasons, key terms and URL red flags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F62FF"/>
                </a:solidFill>
                <a:latin typeface="Calibri"/>
              </a:rPr>
              <a:t>■  </a:t>
            </a:r>
            <a:r>
              <a:rPr sz="2200">
                <a:solidFill>
                  <a:srgbClr val="161616"/>
                </a:solidFill>
                <a:latin typeface="Calibri"/>
              </a:rPr>
              <a:t>Audit all datasets first; remove duplicates, leakage and unusable labels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F62FF"/>
                </a:solidFill>
                <a:latin typeface="Calibri"/>
              </a:rPr>
              <a:t>■  </a:t>
            </a:r>
            <a:r>
              <a:rPr sz="2200">
                <a:solidFill>
                  <a:srgbClr val="161616"/>
                </a:solidFill>
                <a:latin typeface="Calibri"/>
              </a:rPr>
              <a:t>Deliver a simple web app, tests, documentation and a deployable GitHub repository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F62FF"/>
                </a:solidFill>
                <a:latin typeface="Calibri"/>
              </a:rPr>
              <a:t>■  </a:t>
            </a:r>
            <a:r>
              <a:rPr sz="2200">
                <a:solidFill>
                  <a:srgbClr val="161616"/>
                </a:solidFill>
                <a:latin typeface="Calibri"/>
              </a:rPr>
              <a:t>Report limitations honestly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F6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SDG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AI Shield  |  Karthik Siraparapu  |  IBM SkillsBuild - AICTE - BharatCares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94960" cy="4389120"/>
          </a:xfrm>
          <a:prstGeom prst="rect">
            <a:avLst/>
          </a:prstGeom>
          <a:solidFill>
            <a:srgbClr val="EDF5FF"/>
          </a:solidFill>
          <a:ln>
            <a:solidFill>
              <a:srgbClr val="0F6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029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62FF"/>
                </a:solidFill>
                <a:latin typeface="Calibri"/>
              </a:rPr>
              <a:t>SDG 9  Industry, Innovation &amp;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0F62FF"/>
                </a:solidFill>
                <a:latin typeface="Calibri"/>
              </a:rPr>
              <a:t>■  </a:t>
            </a:r>
            <a:r>
              <a:rPr sz="1800">
                <a:solidFill>
                  <a:srgbClr val="161616"/>
                </a:solidFill>
                <a:latin typeface="Calibri"/>
              </a:rPr>
              <a:t>AI-based innovation that makes digital payment infrastructure safer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0F62FF"/>
                </a:solidFill>
                <a:latin typeface="Calibri"/>
              </a:rPr>
              <a:t>■  </a:t>
            </a:r>
            <a:r>
              <a:rPr sz="1800">
                <a:solidFill>
                  <a:srgbClr val="161616"/>
                </a:solidFill>
                <a:latin typeface="Calibri"/>
              </a:rPr>
              <a:t>Open-source, reusable modules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394960" cy="4389120"/>
          </a:xfrm>
          <a:prstGeom prst="rect">
            <a:avLst/>
          </a:prstGeom>
          <a:solidFill>
            <a:srgbClr val="EDF5FF"/>
          </a:solidFill>
          <a:ln>
            <a:solidFill>
              <a:srgbClr val="0F6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029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62FF"/>
                </a:solidFill>
                <a:latin typeface="Calibri"/>
              </a:rPr>
              <a:t>SDG 16  Peace, Justice &amp; Strong Institutions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0F62FF"/>
                </a:solidFill>
                <a:latin typeface="Calibri"/>
              </a:rPr>
              <a:t>■  </a:t>
            </a:r>
            <a:r>
              <a:rPr sz="1800">
                <a:solidFill>
                  <a:srgbClr val="161616"/>
                </a:solidFill>
                <a:latin typeface="Calibri"/>
              </a:rPr>
              <a:t>Helps reduce cyber-enabled financial crime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0F62FF"/>
                </a:solidFill>
                <a:latin typeface="Calibri"/>
              </a:rPr>
              <a:t>■  </a:t>
            </a:r>
            <a:r>
              <a:rPr sz="1800">
                <a:solidFill>
                  <a:srgbClr val="161616"/>
                </a:solidFill>
                <a:latin typeface="Calibri"/>
              </a:rPr>
              <a:t>Guides users to official reporting: cybercrime.gov.in, helpline 1930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F6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Existing systems and their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AI Shield  |  Karthik Siraparapu  |  IBM SkillsBuild - AICTE - BharatCares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017520"/>
                <a:gridCol w="4572000"/>
              </a:tblGrid>
              <a:tr h="6400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Existing solution</a:t>
                      </a:r>
                    </a:p>
                  </a:txBody>
                  <a:tcPr marL="54864" marR="54864" marT="27432" marB="27432">
                    <a:solidFill>
                      <a:srgbClr val="0F6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Strength</a:t>
                      </a:r>
                    </a:p>
                  </a:txBody>
                  <a:tcPr marL="54864" marR="54864" marT="27432" marB="27432">
                    <a:solidFill>
                      <a:srgbClr val="0F6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 marL="54864" marR="54864" marT="27432" marB="27432">
                    <a:solidFill>
                      <a:srgbClr val="0F62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1616"/>
                          </a:solidFill>
                          <a:latin typeface="Calibri"/>
                        </a:rPr>
                        <a:t>Telecom / email spam filters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1616"/>
                          </a:solidFill>
                          <a:latin typeface="Calibri"/>
                        </a:rPr>
                        <a:t>Automatic, at scale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1616"/>
                          </a:solidFill>
                          <a:latin typeface="Calibri"/>
                        </a:rPr>
                        <a:t>Miss new wording; no explanation to user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1616"/>
                          </a:solidFill>
                          <a:latin typeface="Calibri"/>
                        </a:rPr>
                        <a:t>Blocklists / Safe Browsing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1616"/>
                          </a:solidFill>
                          <a:latin typeface="Calibri"/>
                        </a:rPr>
                        <a:t>Accurate for known URLs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1616"/>
                          </a:solidFill>
                          <a:latin typeface="Calibri"/>
                        </a:rPr>
                        <a:t>New phishing domains are not yet listed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1616"/>
                          </a:solidFill>
                          <a:latin typeface="Calibri"/>
                        </a:rPr>
                        <a:t>Bank awareness SMS, helplines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1616"/>
                          </a:solidFill>
                          <a:latin typeface="Calibri"/>
                        </a:rPr>
                        <a:t>Trusted advice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1616"/>
                          </a:solidFill>
                          <a:latin typeface="Calibri"/>
                        </a:rPr>
                        <a:t>Reactive; needs the victim to ask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1616"/>
                          </a:solidFill>
                          <a:latin typeface="Calibri"/>
                        </a:rPr>
                        <a:t>Asking friends / searching the web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1616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1616"/>
                          </a:solidFill>
                          <a:latin typeface="Calibri"/>
                        </a:rPr>
                        <a:t>Slow and unreliable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F6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Proposed system: AI Shield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AI Shield  |  Karthik Siraparapu  |  IBM SkillsBuild - AICTE - BharatCares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2651760" cy="2377440"/>
          </a:xfrm>
          <a:prstGeom prst="rect">
            <a:avLst/>
          </a:prstGeom>
          <a:solidFill>
            <a:srgbClr val="EDF5FF"/>
          </a:solidFill>
          <a:ln>
            <a:solidFill>
              <a:srgbClr val="0F6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4688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0F62FF"/>
                </a:solidFill>
                <a:latin typeface="Calibri"/>
              </a:rPr>
              <a:t>Scam-message analyzer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24688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161616"/>
                </a:solidFill>
                <a:latin typeface="Calibri"/>
              </a:rPr>
              <a:t>TF-IDF + calibrated Linear SVM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554480"/>
            <a:ext cx="2651760" cy="2377440"/>
          </a:xfrm>
          <a:prstGeom prst="rect">
            <a:avLst/>
          </a:prstGeom>
          <a:solidFill>
            <a:srgbClr val="EDF5FF"/>
          </a:solidFill>
          <a:ln>
            <a:solidFill>
              <a:srgbClr val="0F6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691640"/>
            <a:ext cx="24688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0F62FF"/>
                </a:solidFill>
                <a:latin typeface="Calibri"/>
              </a:rPr>
              <a:t>Phishing-URL detector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743200"/>
            <a:ext cx="24688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161616"/>
                </a:solidFill>
                <a:latin typeface="Calibri"/>
              </a:rPr>
              <a:t>Lexical features + 2 Random Forests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2651760" cy="2377440"/>
          </a:xfrm>
          <a:prstGeom prst="rect">
            <a:avLst/>
          </a:prstGeom>
          <a:solidFill>
            <a:srgbClr val="EDF5FF"/>
          </a:solidFill>
          <a:ln>
            <a:solidFill>
              <a:srgbClr val="0F6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691640"/>
            <a:ext cx="24688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0F62FF"/>
                </a:solidFill>
                <a:latin typeface="Calibri"/>
              </a:rPr>
              <a:t>Email checker (experimental)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743200"/>
            <a:ext cx="24688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161616"/>
                </a:solidFill>
                <a:latin typeface="Calibri"/>
              </a:rPr>
              <a:t>TF-IDF + Linear SVM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1554480"/>
            <a:ext cx="2651760" cy="2377440"/>
          </a:xfrm>
          <a:prstGeom prst="rect">
            <a:avLst/>
          </a:prstGeom>
          <a:solidFill>
            <a:srgbClr val="EDF5FF"/>
          </a:solidFill>
          <a:ln>
            <a:solidFill>
              <a:srgbClr val="0F6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691640"/>
            <a:ext cx="24688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0F62FF"/>
                </a:solidFill>
                <a:latin typeface="Calibri"/>
              </a:rPr>
              <a:t>Explainable-AI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743200"/>
            <a:ext cx="24688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161616"/>
                </a:solidFill>
                <a:latin typeface="Calibri"/>
              </a:rPr>
              <a:t>Verdict, probability, reasons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97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0F62FF"/>
                </a:solidFill>
                <a:latin typeface="Calibri"/>
              </a:rPr>
              <a:t>■  </a:t>
            </a:r>
            <a:r>
              <a:rPr sz="1800">
                <a:solidFill>
                  <a:srgbClr val="161616"/>
                </a:solidFill>
                <a:latin typeface="Calibri"/>
              </a:rPr>
              <a:t>Streamlit web app: Home, Scam, URL, Email, Threat Dashboard, Model Report, About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0F62FF"/>
                </a:solidFill>
                <a:latin typeface="Calibri"/>
              </a:rPr>
              <a:t>■  </a:t>
            </a:r>
            <a:r>
              <a:rPr sz="1800">
                <a:solidFill>
                  <a:srgbClr val="161616"/>
                </a:solidFill>
                <a:latin typeface="Calibri"/>
              </a:rPr>
              <a:t>Output: Legitimate / Suspicious / Fraudulent + fraud probability + 'Why?' panel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F6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Datasets supplied (10 files)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AI Shield  |  Karthik Siraparapu  |  IBM SkillsBuild - AICTE - BharatCares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377440"/>
                <a:gridCol w="448056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marL="54864" marR="54864" marT="27432" marB="27432">
                    <a:solidFill>
                      <a:srgbClr val="0F6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Rows</a:t>
                      </a:r>
                    </a:p>
                  </a:txBody>
                  <a:tcPr marL="54864" marR="54864" marT="27432" marB="27432">
                    <a:solidFill>
                      <a:srgbClr val="0F6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Used for</a:t>
                      </a:r>
                    </a:p>
                  </a:txBody>
                  <a:tcPr marL="54864" marR="54864" marT="27432" marB="27432">
                    <a:solidFill>
                      <a:srgbClr val="0F6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Composite Scam Transcripts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36,751 + 9,188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Scam-text model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GCT 100K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100,000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Audited - excluded (random labels)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Phishing URL features (basic)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2,488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URL model 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UCI phishing features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11,055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URL model B (8 lexical features)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Enron fraud-labelled emails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447,417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Email text model (sample 10,451)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Email features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524,846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Supplementary experiment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Email spam (independent)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External validation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Global Cyber Threats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3,000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Dashboard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CryptoScamDB URIs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Demo only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F6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Data audit: five problems found before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AI Shield  |  Karthik Siraparapu  |  IBM SkillsBuild - AICTE - BharatCares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9</a:t>
            </a:r>
          </a:p>
        </p:txBody>
      </p:sp>
      <p:pic>
        <p:nvPicPr>
          <p:cNvPr id="7" name="Picture 6" descr="02_duplic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486400" cy="30462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137160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00">
                <a:solidFill>
                  <a:srgbClr val="0F62FF"/>
                </a:solidFill>
                <a:latin typeface="Calibri"/>
              </a:rPr>
              <a:t>■  </a:t>
            </a:r>
            <a:r>
              <a:rPr sz="1700">
                <a:solidFill>
                  <a:srgbClr val="161616"/>
                </a:solidFill>
                <a:latin typeface="Calibri"/>
              </a:rPr>
              <a:t>GCT 100K labels are random: text-only model 49.9% = chance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0F62FF"/>
                </a:solidFill>
                <a:latin typeface="Calibri"/>
              </a:rPr>
              <a:t>■  </a:t>
            </a:r>
            <a:r>
              <a:rPr sz="1700">
                <a:solidFill>
                  <a:srgbClr val="161616"/>
                </a:solidFill>
                <a:latin typeface="Calibri"/>
              </a:rPr>
              <a:t>Composite: 17% duplicate rows; 2,900 test texts leaked from train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0F62FF"/>
                </a:solidFill>
                <a:latin typeface="Calibri"/>
              </a:rPr>
              <a:t>■  </a:t>
            </a:r>
            <a:r>
              <a:rPr sz="1700">
                <a:solidFill>
                  <a:srgbClr val="161616"/>
                </a:solidFill>
                <a:latin typeface="Calibri"/>
              </a:rPr>
              <a:t>URL datasets hold features, not URLs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0F62FF"/>
                </a:solidFill>
                <a:latin typeface="Calibri"/>
              </a:rPr>
              <a:t>■  </a:t>
            </a:r>
            <a:r>
              <a:rPr sz="1700">
                <a:solidFill>
                  <a:srgbClr val="161616"/>
                </a:solidFill>
                <a:latin typeface="Calibri"/>
              </a:rPr>
              <a:t>Email feature table: 61% duplicates, 3% positive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0F62FF"/>
                </a:solidFill>
                <a:latin typeface="Calibri"/>
              </a:rPr>
              <a:t>■  </a:t>
            </a:r>
            <a:r>
              <a:rPr sz="1700">
                <a:solidFill>
                  <a:srgbClr val="161616"/>
                </a:solidFill>
                <a:latin typeface="Calibri"/>
              </a:rPr>
              <a:t>Enron: 0.5% fraud, corporate-only negatives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F6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Data cleaning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AI Shield  |  Karthik Siraparapu  |  IBM SkillsBuild - AICTE - BharatCares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760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0F62FF"/>
                </a:solidFill>
                <a:latin typeface="Calibri"/>
              </a:rPr>
              <a:t>■  </a:t>
            </a:r>
            <a:r>
              <a:rPr sz="1800">
                <a:solidFill>
                  <a:srgbClr val="161616"/>
                </a:solidFill>
                <a:latin typeface="Calibri"/>
              </a:rPr>
              <a:t>Drop exact duplicates and conflicting labels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0F62FF"/>
                </a:solidFill>
                <a:latin typeface="Calibri"/>
              </a:rPr>
              <a:t>■  </a:t>
            </a:r>
            <a:r>
              <a:rPr sz="1800">
                <a:solidFill>
                  <a:srgbClr val="161616"/>
                </a:solidFill>
                <a:latin typeface="Calibri"/>
              </a:rPr>
              <a:t>Remove test rows that also appear in train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0F62FF"/>
                </a:solidFill>
                <a:latin typeface="Calibri"/>
              </a:rPr>
              <a:t>■  </a:t>
            </a:r>
            <a:r>
              <a:rPr sz="1800">
                <a:solidFill>
                  <a:srgbClr val="161616"/>
                </a:solidFill>
                <a:latin typeface="Calibri"/>
              </a:rPr>
              <a:t>Text: strip HTML, mask URLs and long numbers, lower-case, normalise spaces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0F62FF"/>
                </a:solidFill>
                <a:latin typeface="Calibri"/>
              </a:rPr>
              <a:t>■  </a:t>
            </a:r>
            <a:r>
              <a:rPr sz="1800">
                <a:solidFill>
                  <a:srgbClr val="161616"/>
                </a:solidFill>
                <a:latin typeface="Calibri"/>
              </a:rPr>
              <a:t>URL: normalise scheme, parse host, compute only features a pasted URL can provide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0F62FF"/>
                </a:solidFill>
                <a:latin typeface="Calibri"/>
              </a:rPr>
              <a:t>■  </a:t>
            </a:r>
            <a:r>
              <a:rPr sz="1800">
                <a:solidFill>
                  <a:srgbClr val="161616"/>
                </a:solidFill>
                <a:latin typeface="Calibri"/>
              </a:rPr>
              <a:t>Fixed random seed (42), stratified splits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0" y="1554480"/>
          <a:ext cx="51206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103120"/>
              </a:tblGrid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Scam text</a:t>
                      </a:r>
                    </a:p>
                  </a:txBody>
                  <a:tcPr marL="54864" marR="54864" marT="27432" marB="27432">
                    <a:solidFill>
                      <a:srgbClr val="0F6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Rows</a:t>
                      </a:r>
                    </a:p>
                  </a:txBody>
                  <a:tcPr marL="54864" marR="54864" marT="27432" marB="27432">
                    <a:solidFill>
                      <a:srgbClr val="0F62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1616"/>
                          </a:solidFill>
                          <a:latin typeface="Calibri"/>
                        </a:rPr>
                        <a:t>Train raw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1616"/>
                          </a:solidFill>
                          <a:latin typeface="Calibri"/>
                        </a:rPr>
                        <a:t>36,751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1616"/>
                          </a:solidFill>
                          <a:latin typeface="Calibri"/>
                        </a:rPr>
                        <a:t>Train clean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1616"/>
                          </a:solidFill>
                          <a:latin typeface="Calibri"/>
                        </a:rPr>
                        <a:t>30,540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1616"/>
                          </a:solidFill>
                          <a:latin typeface="Calibri"/>
                        </a:rPr>
                        <a:t>Test raw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1616"/>
                          </a:solidFill>
                          <a:latin typeface="Calibri"/>
                        </a:rPr>
                        <a:t>9,188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1616"/>
                          </a:solidFill>
                          <a:latin typeface="Calibri"/>
                        </a:rPr>
                        <a:t>Test clean (no leak)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61616"/>
                          </a:solidFill>
                          <a:latin typeface="Calibri"/>
                        </a:rPr>
                        <a:t>5,949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F6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EDA: scam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AI Shield  |  Karthik Siraparapu  |  IBM SkillsBuild - AICTE - BharatCares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11</a:t>
            </a:r>
          </a:p>
        </p:txBody>
      </p:sp>
      <p:pic>
        <p:nvPicPr>
          <p:cNvPr id="7" name="Picture 6" descr="03_tex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680960" cy="27342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21040" y="146304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>
                <a:solidFill>
                  <a:srgbClr val="0F62FF"/>
                </a:solidFill>
                <a:latin typeface="Calibri"/>
              </a:rPr>
              <a:t>■  </a:t>
            </a:r>
            <a:r>
              <a:rPr sz="1600">
                <a:solidFill>
                  <a:srgbClr val="161616"/>
                </a:solidFill>
                <a:latin typeface="Calibri"/>
              </a:rPr>
              <a:t>Scam transcripts are far longer than genuine messages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0F62FF"/>
                </a:solidFill>
                <a:latin typeface="Calibri"/>
              </a:rPr>
              <a:t>■  </a:t>
            </a:r>
            <a:r>
              <a:rPr sz="1600">
                <a:solidFill>
                  <a:srgbClr val="161616"/>
                </a:solidFill>
                <a:latin typeface="Calibri"/>
              </a:rPr>
              <a:t>Length alone gives 85% accuracy - a shortcut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0F62FF"/>
                </a:solidFill>
                <a:latin typeface="Calibri"/>
              </a:rPr>
              <a:t>■  </a:t>
            </a:r>
            <a:r>
              <a:rPr sz="1600">
                <a:solidFill>
                  <a:srgbClr val="161616"/>
                </a:solidFill>
                <a:latin typeface="Calibri"/>
              </a:rPr>
              <a:t>So results are also reported by length bucket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F6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EDA: top terms the model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AI Shield  |  Karthik Siraparapu  |  IBM SkillsBuild - AICTE - BharatCares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12</a:t>
            </a:r>
          </a:p>
        </p:txBody>
      </p:sp>
      <p:pic>
        <p:nvPicPr>
          <p:cNvPr id="7" name="Picture 6" descr="04_top_te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315200" cy="32770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46304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900">
                <a:solidFill>
                  <a:srgbClr val="0F62FF"/>
                </a:solidFill>
                <a:latin typeface="Calibri"/>
              </a:rPr>
              <a:t>■  </a:t>
            </a:r>
            <a:r>
              <a:rPr sz="1500">
                <a:solidFill>
                  <a:srgbClr val="161616"/>
                </a:solidFill>
                <a:latin typeface="Calibri"/>
              </a:rPr>
              <a:t>Scam side: masked long numbers (phone numbers), account, bank, prize, customer, links</a:t>
            </a:r>
          </a:p>
          <a:p>
            <a:pPr>
              <a:spcAft>
                <a:spcPts val="900"/>
              </a:spcAft>
            </a:pPr>
            <a:r>
              <a:rPr sz="900">
                <a:solidFill>
                  <a:srgbClr val="0F62FF"/>
                </a:solidFill>
                <a:latin typeface="Calibri"/>
              </a:rPr>
              <a:t>■  </a:t>
            </a:r>
            <a:r>
              <a:rPr sz="1500">
                <a:solidFill>
                  <a:srgbClr val="161616"/>
                </a:solidFill>
                <a:latin typeface="Calibri"/>
              </a:rPr>
              <a:t>Legit side: casual conversation words (hi, alright, yeah, think)</a:t>
            </a:r>
          </a:p>
          <a:p>
            <a:pPr>
              <a:spcAft>
                <a:spcPts val="900"/>
              </a:spcAft>
            </a:pPr>
            <a:r>
              <a:rPr sz="900">
                <a:solidFill>
                  <a:srgbClr val="0F62FF"/>
                </a:solidFill>
                <a:latin typeface="Calibri"/>
              </a:rPr>
              <a:t>■  </a:t>
            </a:r>
            <a:r>
              <a:rPr sz="1500">
                <a:solidFill>
                  <a:srgbClr val="161616"/>
                </a:solidFill>
                <a:latin typeface="Calibri"/>
              </a:rPr>
              <a:t>'longnumber' and 'urltoken' are cleaning placeholders for numbers and links</a:t>
            </a:r>
          </a:p>
          <a:p>
            <a:pPr>
              <a:spcAft>
                <a:spcPts val="900"/>
              </a:spcAft>
            </a:pPr>
            <a:r>
              <a:rPr sz="900">
                <a:solidFill>
                  <a:srgbClr val="0F62FF"/>
                </a:solidFill>
                <a:latin typeface="Calibri"/>
              </a:rPr>
              <a:t>■  </a:t>
            </a:r>
            <a:r>
              <a:rPr sz="1500">
                <a:solidFill>
                  <a:srgbClr val="161616"/>
                </a:solidFill>
                <a:latin typeface="Calibri"/>
              </a:rPr>
              <a:t>These weights feed the 'Why?' panel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F6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EDA: URL features and email imbalance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AI Shield  |  Karthik Siraparapu  |  IBM SkillsBuild - AICTE - BharatCares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13</a:t>
            </a:r>
          </a:p>
        </p:txBody>
      </p:sp>
      <p:pic>
        <p:nvPicPr>
          <p:cNvPr id="7" name="Picture 6" descr="05_url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498079" cy="2380652"/>
          </a:xfrm>
          <a:prstGeom prst="rect">
            <a:avLst/>
          </a:prstGeom>
        </p:spPr>
      </p:pic>
      <p:pic>
        <p:nvPicPr>
          <p:cNvPr id="8" name="Picture 7" descr="06_email_im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463040"/>
            <a:ext cx="3840480" cy="23330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206240"/>
            <a:ext cx="7315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00">
                <a:solidFill>
                  <a:srgbClr val="0F62FF"/>
                </a:solidFill>
                <a:latin typeface="Calibri"/>
              </a:rPr>
              <a:t>■  </a:t>
            </a:r>
            <a:r>
              <a:rPr sz="1700">
                <a:solidFill>
                  <a:srgbClr val="161616"/>
                </a:solidFill>
                <a:latin typeface="Calibri"/>
              </a:rPr>
              <a:t>Phishing URLs: more dots, longer, more sensitive words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0F62FF"/>
                </a:solidFill>
                <a:latin typeface="Calibri"/>
              </a:rPr>
              <a:t>■  </a:t>
            </a:r>
            <a:r>
              <a:rPr sz="1700">
                <a:solidFill>
                  <a:srgbClr val="161616"/>
                </a:solidFill>
                <a:latin typeface="Calibri"/>
              </a:rPr>
              <a:t>Email data are heavily imbalanced, so PR-AUC is reported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F6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Machine-learning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AI Shield  |  Karthik Siraparapu  |  IBM SkillsBuild - AICTE - BharatCares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377440"/>
            <a:ext cx="1463040" cy="1280160"/>
          </a:xfrm>
          <a:prstGeom prst="roundRect">
            <a:avLst/>
          </a:prstGeom>
          <a:solidFill>
            <a:srgbClr val="0F62FF"/>
          </a:solidFill>
          <a:ln>
            <a:solidFill>
              <a:srgbClr val="0F6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377440"/>
            <a:ext cx="1463040" cy="12801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Raw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29968" y="2377440"/>
            <a:ext cx="146304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0F6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9968" y="2377440"/>
            <a:ext cx="1463040" cy="12801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61616"/>
                </a:solidFill>
                <a:latin typeface="Calibri"/>
              </a:rPr>
              <a:t>Audit &amp;
cleaning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94176" y="2377440"/>
            <a:ext cx="146304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0F6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94176" y="2377440"/>
            <a:ext cx="1463040" cy="12801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61616"/>
                </a:solidFill>
                <a:latin typeface="Calibri"/>
              </a:rPr>
              <a:t>Feature
extraction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58384" y="2377440"/>
            <a:ext cx="146304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0F6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58384" y="2377440"/>
            <a:ext cx="1463040" cy="12801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61616"/>
                </a:solidFill>
                <a:latin typeface="Calibri"/>
              </a:rPr>
              <a:t>Model
comparison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22592" y="2377440"/>
            <a:ext cx="146304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0F6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22592" y="2377440"/>
            <a:ext cx="1463040" cy="12801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61616"/>
                </a:solidFill>
                <a:latin typeface="Calibri"/>
              </a:rPr>
              <a:t>Hold-out
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2377440"/>
            <a:ext cx="146304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0F6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2377440"/>
            <a:ext cx="1463040" cy="12801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61616"/>
                </a:solidFill>
                <a:latin typeface="Calibri"/>
              </a:rPr>
              <a:t>Save model
(joblib)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51008" y="2377440"/>
            <a:ext cx="1463040" cy="1280160"/>
          </a:xfrm>
          <a:prstGeom prst="roundRect">
            <a:avLst/>
          </a:prstGeom>
          <a:solidFill>
            <a:srgbClr val="0F62FF"/>
          </a:solidFill>
          <a:ln>
            <a:solidFill>
              <a:srgbClr val="0F6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51008" y="2377440"/>
            <a:ext cx="1463040" cy="12801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Streamlit
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97680"/>
            <a:ext cx="1097280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25252"/>
                </a:solidFill>
                <a:latin typeface="Calibri"/>
              </a:rPr>
              <a:t>Text: TF-IDF word 1-2 grams  |  URL: lexical features  |  Metrics: accuracy, precision, recall, F1, ROC-AUC, PR-AUC, confusion matrix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525252"/>
                </a:solidFill>
                <a:latin typeface="Calibri"/>
              </a:rPr>
              <a:t>Model chosen on validation data; test set used once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F6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Algorithms compared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AI Shield  |  Karthik Siraparapu  |  IBM SkillsBuild - AICTE - BharatCares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2377440"/>
                <a:gridCol w="2377440"/>
                <a:gridCol w="2377440"/>
              </a:tblGrid>
              <a:tr h="59436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Algorithm</a:t>
                      </a:r>
                    </a:p>
                  </a:txBody>
                  <a:tcPr marL="54864" marR="54864" marT="27432" marB="27432">
                    <a:solidFill>
                      <a:srgbClr val="0F6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Scam text</a:t>
                      </a:r>
                    </a:p>
                  </a:txBody>
                  <a:tcPr marL="54864" marR="54864" marT="27432" marB="27432">
                    <a:solidFill>
                      <a:srgbClr val="0F6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URL</a:t>
                      </a:r>
                    </a:p>
                  </a:txBody>
                  <a:tcPr marL="54864" marR="54864" marT="27432" marB="27432">
                    <a:solidFill>
                      <a:srgbClr val="0F6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Email text</a:t>
                      </a:r>
                    </a:p>
                  </a:txBody>
                  <a:tcPr marL="54864" marR="54864" marT="27432" marB="27432">
                    <a:solidFill>
                      <a:srgbClr val="0F62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61616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61616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61616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61616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61616"/>
                          </a:solidFill>
                          <a:latin typeface="Calibri"/>
                        </a:rPr>
                        <a:t>Naive Bayes (Complement)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61616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61616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61616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61616"/>
                          </a:solidFill>
                          <a:latin typeface="Calibri"/>
                        </a:rPr>
                        <a:t>Linear SVM (calibrated)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61616"/>
                          </a:solidFill>
                          <a:latin typeface="Calibri"/>
                        </a:rPr>
                        <a:t>yes  (selected)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61616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61616"/>
                          </a:solidFill>
                          <a:latin typeface="Calibri"/>
                        </a:rPr>
                        <a:t>yes  (selected)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61616"/>
                          </a:solidFill>
                          <a:latin typeface="Calibri"/>
                        </a:rPr>
                        <a:t>Decision Tree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61616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61616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61616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61616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61616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61616"/>
                          </a:solidFill>
                          <a:latin typeface="Calibri"/>
                        </a:rPr>
                        <a:t>yes  (selected)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61616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61616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61616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61616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61616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F6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Results: scam-text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AI Shield  |  Karthik Siraparapu  |  IBM SkillsBuild - AICTE - BharatCares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651760" cy="1371600"/>
          </a:xfrm>
          <a:prstGeom prst="rect">
            <a:avLst/>
          </a:prstGeom>
          <a:solidFill>
            <a:srgbClr val="EDF5FF"/>
          </a:solidFill>
          <a:ln>
            <a:solidFill>
              <a:srgbClr val="0F6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26517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0F62FF"/>
                </a:solidFill>
                <a:latin typeface="Calibri"/>
              </a:rPr>
              <a:t>99.7%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2468879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25252"/>
                </a:solidFill>
                <a:latin typeface="Calibri"/>
              </a:rPr>
              <a:t>accuracy (leak-free test)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651760" cy="1371600"/>
          </a:xfrm>
          <a:prstGeom prst="rect">
            <a:avLst/>
          </a:prstGeom>
          <a:solidFill>
            <a:srgbClr val="EDF5FF"/>
          </a:solidFill>
          <a:ln>
            <a:solidFill>
              <a:srgbClr val="0F6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63040"/>
            <a:ext cx="26517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0F62FF"/>
                </a:solidFill>
                <a:latin typeface="Calibri"/>
              </a:rPr>
              <a:t>0.998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94560"/>
            <a:ext cx="2468879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25252"/>
                </a:solidFill>
                <a:latin typeface="Calibri"/>
              </a:rPr>
              <a:t>F1 score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651760" cy="1371600"/>
          </a:xfrm>
          <a:prstGeom prst="rect">
            <a:avLst/>
          </a:prstGeom>
          <a:solidFill>
            <a:srgbClr val="EDF5FF"/>
          </a:solidFill>
          <a:ln>
            <a:solidFill>
              <a:srgbClr val="0F6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463040"/>
            <a:ext cx="26517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0F62FF"/>
                </a:solidFill>
                <a:latin typeface="Calibri"/>
              </a:rPr>
              <a:t>0.9997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194560"/>
            <a:ext cx="2468879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25252"/>
                </a:solidFill>
                <a:latin typeface="Calibri"/>
              </a:rPr>
              <a:t>ROC-AUC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1371600"/>
            <a:ext cx="2651760" cy="1371600"/>
          </a:xfrm>
          <a:prstGeom prst="rect">
            <a:avLst/>
          </a:prstGeom>
          <a:solidFill>
            <a:srgbClr val="EDF5FF"/>
          </a:solidFill>
          <a:ln>
            <a:solidFill>
              <a:srgbClr val="0F6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1463040"/>
            <a:ext cx="26517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0F62FF"/>
                </a:solidFill>
                <a:latin typeface="Calibri"/>
              </a:rPr>
              <a:t>4 / 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194560"/>
            <a:ext cx="2468879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25252"/>
                </a:solidFill>
                <a:latin typeface="Calibri"/>
              </a:rPr>
              <a:t>false positives / false negatives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08960"/>
            <a:ext cx="11064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00">
                <a:solidFill>
                  <a:srgbClr val="0F62FF"/>
                </a:solidFill>
                <a:latin typeface="Calibri"/>
              </a:rPr>
              <a:t>■  </a:t>
            </a:r>
            <a:r>
              <a:rPr sz="1700">
                <a:solidFill>
                  <a:srgbClr val="161616"/>
                </a:solidFill>
                <a:latin typeface="Calibri"/>
              </a:rPr>
              <a:t>By length: &lt;200 chars (SMS-like) 98.8%; 200-1000 99.7%; &gt;1000 (long dialogue) 100.0%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0F62FF"/>
                </a:solidFill>
                <a:latin typeface="Calibri"/>
              </a:rPr>
              <a:t>■  </a:t>
            </a:r>
            <a:r>
              <a:rPr sz="1700">
                <a:solidFill>
                  <a:srgbClr val="161616"/>
                </a:solidFill>
                <a:latin typeface="Calibri"/>
              </a:rPr>
              <a:t>Selected model: TF-IDF 1-2 grams + calibrated Linear SVM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0F62FF"/>
                </a:solidFill>
                <a:latin typeface="Calibri"/>
              </a:rPr>
              <a:t>■  </a:t>
            </a:r>
            <a:r>
              <a:rPr sz="1700">
                <a:solidFill>
                  <a:srgbClr val="161616"/>
                </a:solidFill>
                <a:latin typeface="Calibri"/>
              </a:rPr>
              <a:t>Caution: templated scripts may leave near-duplicates, so real-world accuracy is likely lower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F6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Results: URL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AI Shield  |  Karthik Siraparapu  |  IBM SkillsBuild - AICTE - BharatCares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17</a:t>
            </a:r>
          </a:p>
        </p:txBody>
      </p:sp>
      <p:pic>
        <p:nvPicPr>
          <p:cNvPr id="7" name="Picture 6" descr="08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498079" cy="2371187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046720" y="1463040"/>
          <a:ext cx="3840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27432" marB="27432">
                    <a:solidFill>
                      <a:srgbClr val="0F6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Basic</a:t>
                      </a:r>
                    </a:p>
                  </a:txBody>
                  <a:tcPr marL="54864" marR="54864" marT="27432" marB="27432">
                    <a:solidFill>
                      <a:srgbClr val="0F6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UCI</a:t>
                      </a:r>
                    </a:p>
                  </a:txBody>
                  <a:tcPr marL="54864" marR="54864" marT="27432" marB="27432">
                    <a:solidFill>
                      <a:srgbClr val="0F6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Rows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1,354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11,055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0.81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0.59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0.74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0.59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1616"/>
                          </a:solidFill>
                          <a:latin typeface="Calibri"/>
                        </a:rPr>
                        <a:t>0.84</a:t>
                      </a:r>
                    </a:p>
                  </a:txBody>
                  <a:tcPr marL="54864" marR="54864" marT="27432" marB="27432">
                    <a:solidFill>
                      <a:srgbClr val="EDF5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29768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00">
                <a:solidFill>
                  <a:srgbClr val="0F62FF"/>
                </a:solidFill>
                <a:latin typeface="Calibri"/>
              </a:rPr>
              <a:t>■  </a:t>
            </a:r>
            <a:r>
              <a:rPr sz="1700">
                <a:solidFill>
                  <a:srgbClr val="161616"/>
                </a:solidFill>
                <a:latin typeface="Calibri"/>
              </a:rPr>
              <a:t>Only lexical features: a screening aid, not a verdict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0F62FF"/>
                </a:solidFill>
                <a:latin typeface="Calibri"/>
              </a:rPr>
              <a:t>■  </a:t>
            </a:r>
            <a:r>
              <a:rPr sz="1700">
                <a:solidFill>
                  <a:srgbClr val="161616"/>
                </a:solidFill>
                <a:latin typeface="Calibri"/>
              </a:rPr>
              <a:t>App averages both models and always lists red flags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F6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Results: email module and the domain-shift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AI Shield  |  Karthik Siraparapu  |  IBM SkillsBuild - AICTE - BharatCares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18</a:t>
            </a:r>
          </a:p>
        </p:txBody>
      </p:sp>
      <p:pic>
        <p:nvPicPr>
          <p:cNvPr id="7" name="Picture 6" descr="09_email_domain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303520" cy="32218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1371600"/>
            <a:ext cx="5760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0F62FF"/>
                </a:solidFill>
                <a:latin typeface="Calibri"/>
              </a:rPr>
              <a:t>■  </a:t>
            </a:r>
            <a:r>
              <a:rPr sz="1800">
                <a:solidFill>
                  <a:srgbClr val="161616"/>
                </a:solidFill>
                <a:latin typeface="Calibri"/>
              </a:rPr>
              <a:t>Enron hold-out: F1 0.88, ROC-AUC 0.99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0F62FF"/>
                </a:solidFill>
                <a:latin typeface="Calibri"/>
              </a:rPr>
              <a:t>■  </a:t>
            </a:r>
            <a:r>
              <a:rPr sz="1800">
                <a:solidFill>
                  <a:srgbClr val="161616"/>
                </a:solidFill>
                <a:latin typeface="Calibri"/>
              </a:rPr>
              <a:t>Independent emails (n=84): ROC-AUC 0.49 = chance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0F62FF"/>
                </a:solidFill>
                <a:latin typeface="Calibri"/>
              </a:rPr>
              <a:t>■  </a:t>
            </a:r>
            <a:r>
              <a:rPr sz="1800">
                <a:solidFill>
                  <a:srgbClr val="161616"/>
                </a:solidFill>
                <a:latin typeface="Calibri"/>
              </a:rPr>
              <a:t>Model learned corporate style, not fraud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0F62FF"/>
                </a:solidFill>
                <a:latin typeface="Calibri"/>
              </a:rPr>
              <a:t>■  </a:t>
            </a:r>
            <a:r>
              <a:rPr sz="1800">
                <a:solidFill>
                  <a:srgbClr val="161616"/>
                </a:solidFill>
                <a:latin typeface="Calibri"/>
              </a:rPr>
              <a:t>Shipped as 'experimental' with a warning - a negative result reported honestly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F6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Model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AI Shield  |  Karthik Siraparapu  |  IBM SkillsBuild - AICTE - BharatCares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19</a:t>
            </a:r>
          </a:p>
        </p:txBody>
      </p:sp>
      <p:pic>
        <p:nvPicPr>
          <p:cNvPr id="7" name="Picture 6" descr="07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387604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F6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AI Shield  |  Karthik Siraparapu  |  IBM SkillsBuild - AICTE - BharatCares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20</a:t>
            </a:r>
          </a:p>
        </p:txBody>
      </p:sp>
      <p:pic>
        <p:nvPicPr>
          <p:cNvPr id="7" name="Picture 6" descr="1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88720"/>
            <a:ext cx="10515600" cy="550046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F6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Explainable output (from predict.py)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AI Shield  |  Karthik Siraparapu  |  IBM SkillsBuild - AICTE - BharatCares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657600" cy="4754880"/>
          </a:xfrm>
          <a:prstGeom prst="rect">
            <a:avLst/>
          </a:prstGeom>
          <a:solidFill>
            <a:srgbClr val="EDF5FF"/>
          </a:solidFill>
          <a:ln>
            <a:solidFill>
              <a:srgbClr val="0F6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63040"/>
            <a:ext cx="33832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62FF"/>
                </a:solidFill>
                <a:latin typeface="Calibri"/>
              </a:rPr>
              <a:t>Scam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33832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DA1E28"/>
                </a:solidFill>
                <a:latin typeface="Calibri"/>
              </a:rPr>
              <a:t>Fraudulent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60320"/>
            <a:ext cx="3383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61616"/>
                </a:solidFill>
                <a:latin typeface="Calibri"/>
              </a:rPr>
              <a:t>Fraud probability 99.0%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17520"/>
            <a:ext cx="3383280" cy="3017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61616"/>
                </a:solidFill>
                <a:latin typeface="Calibri"/>
              </a:rPr>
              <a:t>Why: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61616"/>
                </a:solidFill>
                <a:latin typeface="Calibri"/>
              </a:rPr>
              <a:t>- Credential / OTP request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61616"/>
                </a:solidFill>
                <a:latin typeface="Calibri"/>
              </a:rPr>
              <a:t>- KYC / account threat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61616"/>
                </a:solidFill>
                <a:latin typeface="Calibri"/>
              </a:rPr>
              <a:t>- Urgency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61616"/>
                </a:solidFill>
                <a:latin typeface="Calibri"/>
              </a:rPr>
              <a:t>- Authority impersonation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61616"/>
                </a:solidFill>
                <a:latin typeface="Calibri"/>
              </a:rPr>
              <a:t>- Contains a link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371600"/>
            <a:ext cx="3657600" cy="4754880"/>
          </a:xfrm>
          <a:prstGeom prst="rect">
            <a:avLst/>
          </a:prstGeom>
          <a:solidFill>
            <a:srgbClr val="EDF5FF"/>
          </a:solidFill>
          <a:ln>
            <a:solidFill>
              <a:srgbClr val="0F6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463040"/>
            <a:ext cx="33832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62FF"/>
                </a:solidFill>
                <a:latin typeface="Calibri"/>
              </a:rPr>
              <a:t>Suspicious 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920240"/>
            <a:ext cx="33832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DA1E28"/>
                </a:solidFill>
                <a:latin typeface="Calibri"/>
              </a:rPr>
              <a:t>Fraudulent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560320"/>
            <a:ext cx="3383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61616"/>
                </a:solidFill>
                <a:latin typeface="Calibri"/>
              </a:rPr>
              <a:t>Fraud probability 58.0%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017520"/>
            <a:ext cx="3383280" cy="3017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61616"/>
                </a:solidFill>
                <a:latin typeface="Calibri"/>
              </a:rPr>
              <a:t>Why: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61616"/>
                </a:solidFill>
                <a:latin typeface="Calibri"/>
              </a:rPr>
              <a:t>- Does not use HTTPS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61616"/>
                </a:solidFill>
                <a:latin typeface="Calibri"/>
              </a:rPr>
              <a:t>- Many subdomains (3 dots in host)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61616"/>
                </a:solidFill>
                <a:latin typeface="Calibri"/>
              </a:rPr>
              <a:t>- Hyphen in domain name (common in look-alike domains)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61616"/>
                </a:solidFill>
                <a:latin typeface="Calibri"/>
              </a:rPr>
              <a:t>- Sensitive keywords: account, paypal, secure, update, verify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61616"/>
                </a:solidFill>
                <a:latin typeface="Calibri"/>
              </a:rPr>
              <a:t>- Domain ends in a TLD frequently abused for scams (.info)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371600"/>
            <a:ext cx="3657600" cy="4754880"/>
          </a:xfrm>
          <a:prstGeom prst="rect">
            <a:avLst/>
          </a:prstGeom>
          <a:solidFill>
            <a:srgbClr val="EDF5FF"/>
          </a:solidFill>
          <a:ln>
            <a:solidFill>
              <a:srgbClr val="0F6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1463040"/>
            <a:ext cx="33832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62FF"/>
                </a:solidFill>
                <a:latin typeface="Calibri"/>
              </a:rPr>
              <a:t>Safe URL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1920240"/>
            <a:ext cx="33832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4A148"/>
                </a:solidFill>
                <a:latin typeface="Calibri"/>
              </a:rPr>
              <a:t>Legitimate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2560320"/>
            <a:ext cx="3383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61616"/>
                </a:solidFill>
                <a:latin typeface="Calibri"/>
              </a:rPr>
              <a:t>Fraud probability 4.4%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3017520"/>
            <a:ext cx="3383280" cy="3017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61616"/>
                </a:solidFill>
                <a:latin typeface="Calibri"/>
              </a:rPr>
              <a:t>Why: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61616"/>
                </a:solidFill>
                <a:latin typeface="Calibri"/>
              </a:rPr>
              <a:t>- No lexical red flags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F6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AI Shield  |  Karthik Siraparapu  |  IBM SkillsBuild - AICTE - BharatCares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0F62FF"/>
                </a:solidFill>
                <a:latin typeface="Calibri"/>
              </a:rPr>
              <a:t>■  </a:t>
            </a:r>
            <a:r>
              <a:rPr sz="2000">
                <a:solidFill>
                  <a:srgbClr val="161616"/>
                </a:solidFill>
                <a:latin typeface="Calibri"/>
              </a:rPr>
              <a:t>Repository includes trained models (~11 MB), tests and requirements.txt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0F62FF"/>
                </a:solidFill>
                <a:latin typeface="Calibri"/>
              </a:rPr>
              <a:t>■  </a:t>
            </a:r>
            <a:r>
              <a:rPr sz="2000">
                <a:solidFill>
                  <a:srgbClr val="161616"/>
                </a:solidFill>
                <a:latin typeface="Calibri"/>
              </a:rPr>
              <a:t>Push to a public GitHub repo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0F62FF"/>
                </a:solidFill>
                <a:latin typeface="Calibri"/>
              </a:rPr>
              <a:t>■  </a:t>
            </a:r>
            <a:r>
              <a:rPr sz="2000">
                <a:solidFill>
                  <a:srgbClr val="161616"/>
                </a:solidFill>
                <a:latin typeface="Calibri"/>
              </a:rPr>
              <a:t>Streamlit Community Cloud: New app -&gt; repo -&gt; main file app.py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0F62FF"/>
                </a:solidFill>
                <a:latin typeface="Calibri"/>
              </a:rPr>
              <a:t>■  </a:t>
            </a:r>
            <a:r>
              <a:rPr sz="2000">
                <a:solidFill>
                  <a:srgbClr val="161616"/>
                </a:solidFill>
                <a:latin typeface="Calibri"/>
              </a:rPr>
              <a:t>Copy the live URL into the README and the submission form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0F62FF"/>
                </a:solidFill>
                <a:latin typeface="Calibri"/>
              </a:rPr>
              <a:t>■  </a:t>
            </a:r>
            <a:r>
              <a:rPr sz="2000">
                <a:solidFill>
                  <a:srgbClr val="161616"/>
                </a:solidFill>
                <a:latin typeface="Calibri"/>
              </a:rPr>
              <a:t>Local run: pip install -r requirements.txt, then streamlit run app.py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F6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Limitations and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AI Shield  |  Karthik Siraparapu  |  IBM SkillsBuild - AICTE - BharatCares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94960" cy="4754880"/>
          </a:xfrm>
          <a:prstGeom prst="rect">
            <a:avLst/>
          </a:prstGeom>
          <a:solidFill>
            <a:srgbClr val="EDF5FF"/>
          </a:solidFill>
          <a:ln>
            <a:solidFill>
              <a:srgbClr val="0F6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A1E28"/>
                </a:solidFill>
                <a:latin typeface="Calibri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>
                <a:solidFill>
                  <a:srgbClr val="0F62FF"/>
                </a:solidFill>
                <a:latin typeface="Calibri"/>
              </a:rPr>
              <a:t>■  </a:t>
            </a:r>
            <a:r>
              <a:rPr sz="1600">
                <a:solidFill>
                  <a:srgbClr val="161616"/>
                </a:solidFill>
                <a:latin typeface="Calibri"/>
              </a:rPr>
              <a:t>No labelled Indian SMS corpus supplied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0F62FF"/>
                </a:solidFill>
                <a:latin typeface="Calibri"/>
              </a:rPr>
              <a:t>■  </a:t>
            </a:r>
            <a:r>
              <a:rPr sz="1600">
                <a:solidFill>
                  <a:srgbClr val="161616"/>
                </a:solidFill>
                <a:latin typeface="Calibri"/>
              </a:rPr>
              <a:t>URL models see only the string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0F62FF"/>
                </a:solidFill>
                <a:latin typeface="Calibri"/>
              </a:rPr>
              <a:t>■  </a:t>
            </a:r>
            <a:r>
              <a:rPr sz="1600">
                <a:solidFill>
                  <a:srgbClr val="161616"/>
                </a:solidFill>
                <a:latin typeface="Calibri"/>
              </a:rPr>
              <a:t>Email model does not generalise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0F62FF"/>
                </a:solidFill>
                <a:latin typeface="Calibri"/>
              </a:rPr>
              <a:t>■  </a:t>
            </a:r>
            <a:r>
              <a:rPr sz="1600">
                <a:solidFill>
                  <a:srgbClr val="161616"/>
                </a:solidFill>
                <a:latin typeface="Calibri"/>
              </a:rPr>
              <a:t>English only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394960" cy="4754880"/>
          </a:xfrm>
          <a:prstGeom prst="rect">
            <a:avLst/>
          </a:prstGeom>
          <a:solidFill>
            <a:srgbClr val="EDF5FF"/>
          </a:solidFill>
          <a:ln>
            <a:solidFill>
              <a:srgbClr val="0F6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62FF"/>
                </a:solidFill>
                <a:latin typeface="Calibri"/>
              </a:rP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000">
                <a:solidFill>
                  <a:srgbClr val="0F62FF"/>
                </a:solidFill>
                <a:latin typeface="Calibri"/>
              </a:rPr>
              <a:t>■  </a:t>
            </a:r>
            <a:r>
              <a:rPr sz="1600">
                <a:solidFill>
                  <a:srgbClr val="161616"/>
                </a:solidFill>
                <a:latin typeface="Calibri"/>
              </a:rPr>
              <a:t>Labelled SMS data, Hindi/Gujarati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0F62FF"/>
                </a:solidFill>
                <a:latin typeface="Calibri"/>
              </a:rPr>
              <a:t>■  </a:t>
            </a:r>
            <a:r>
              <a:rPr sz="1600">
                <a:solidFill>
                  <a:srgbClr val="161616"/>
                </a:solidFill>
                <a:latin typeface="Calibri"/>
              </a:rPr>
              <a:t>Real phishing-email corpora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0F62FF"/>
                </a:solidFill>
                <a:latin typeface="Calibri"/>
              </a:rPr>
              <a:t>■  </a:t>
            </a:r>
            <a:r>
              <a:rPr sz="1600">
                <a:solidFill>
                  <a:srgbClr val="161616"/>
                </a:solidFill>
                <a:latin typeface="Calibri"/>
              </a:rPr>
              <a:t>WHOIS / reputation features, QR scams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0F62FF"/>
                </a:solidFill>
                <a:latin typeface="Calibri"/>
              </a:rPr>
              <a:t>■  </a:t>
            </a:r>
            <a:r>
              <a:rPr sz="1600">
                <a:solidFill>
                  <a:srgbClr val="161616"/>
                </a:solidFill>
                <a:latin typeface="Calibri"/>
              </a:rPr>
              <a:t>Browser extension, WhatsApp bot</a:t>
            </a:r>
          </a:p>
          <a:p>
            <a:pPr>
              <a:spcAft>
                <a:spcPts val="900"/>
              </a:spcAft>
            </a:pPr>
            <a:r>
              <a:rPr sz="1000">
                <a:solidFill>
                  <a:srgbClr val="0F62FF"/>
                </a:solidFill>
                <a:latin typeface="Calibri"/>
              </a:rPr>
              <a:t>■  </a:t>
            </a:r>
            <a:r>
              <a:rPr sz="1600">
                <a:solidFill>
                  <a:srgbClr val="161616"/>
                </a:solidFill>
                <a:latin typeface="Calibri"/>
              </a:rPr>
              <a:t>Transformer models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0F6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AI Shield  |  Karthik Siraparapu  |  IBM SkillsBuild - AICTE - BharatCares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25252"/>
                </a:solidFill>
                <a:latin typeface="Calibr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0F62FF"/>
                </a:solidFill>
                <a:latin typeface="Calibri"/>
              </a:rPr>
              <a:t>■  </a:t>
            </a:r>
            <a:r>
              <a:rPr sz="2200">
                <a:solidFill>
                  <a:srgbClr val="161616"/>
                </a:solidFill>
                <a:latin typeface="Calibri"/>
              </a:rPr>
              <a:t>AI Shield delivers explainable fraud detection across messages, URLs and emails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F62FF"/>
                </a:solidFill>
                <a:latin typeface="Calibri"/>
              </a:rPr>
              <a:t>■  </a:t>
            </a:r>
            <a:r>
              <a:rPr sz="2200">
                <a:solidFill>
                  <a:srgbClr val="161616"/>
                </a:solidFill>
                <a:latin typeface="Calibri"/>
              </a:rPr>
              <a:t>Scam-text hold-out F1 0.998; URL ROC-AUC 0.81-0.83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F62FF"/>
                </a:solidFill>
                <a:latin typeface="Calibri"/>
              </a:rPr>
              <a:t>■  </a:t>
            </a:r>
            <a:r>
              <a:rPr sz="2200">
                <a:solidFill>
                  <a:srgbClr val="161616"/>
                </a:solidFill>
                <a:latin typeface="Calibri"/>
              </a:rPr>
              <a:t>Data auditing prevented inflated results and revealed where data is missing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F62FF"/>
                </a:solidFill>
                <a:latin typeface="Calibri"/>
              </a:rPr>
              <a:t>■  </a:t>
            </a:r>
            <a:r>
              <a:rPr sz="2200">
                <a:solidFill>
                  <a:srgbClr val="161616"/>
                </a:solidFill>
                <a:latin typeface="Calibri"/>
              </a:rPr>
              <a:t>Aligned with SDG 9 and SDG 16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F62FF"/>
                </a:solidFill>
                <a:latin typeface="Calibri"/>
              </a:rPr>
              <a:t>■  </a:t>
            </a:r>
            <a:r>
              <a:rPr sz="2200">
                <a:solidFill>
                  <a:srgbClr val="161616"/>
                </a:solidFill>
                <a:latin typeface="Calibri"/>
              </a:rPr>
              <a:t>Next: better Indian SMS and email data, deployment feedback loop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91695" cy="73152"/>
          </a:xfrm>
          <a:prstGeom prst="rect">
            <a:avLst/>
          </a:prstGeom>
          <a:solidFill>
            <a:srgbClr val="0F6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Thank you  - 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51560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6C6C6"/>
                </a:solidFill>
                <a:latin typeface="Calibri"/>
              </a:rPr>
              <a:t>Karthik Siraparapu  |  IBMUEML004123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C6C6C6"/>
                </a:solidFill>
                <a:latin typeface="Calibri"/>
              </a:rPr>
              <a:t>GitHub: &lt;add repo link&gt;   |   Live app: &lt;add Streamlit link&gt;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